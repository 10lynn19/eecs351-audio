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67" r:id="rId5"/>
    <p:sldId id="264" r:id="rId6"/>
    <p:sldId id="258" r:id="rId7"/>
    <p:sldId id="259" r:id="rId8"/>
    <p:sldId id="263" r:id="rId9"/>
    <p:sldId id="265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5"/>
    <p:restoredTop sz="75238"/>
  </p:normalViewPr>
  <p:slideViewPr>
    <p:cSldViewPr snapToGrid="0">
      <p:cViewPr varScale="1">
        <p:scale>
          <a:sx n="95" d="100"/>
          <a:sy n="95" d="100"/>
        </p:scale>
        <p:origin x="11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autoTitleDeleted val="1"/>
    <c:plotArea>
      <c:layout>
        <c:manualLayout>
          <c:xMode val="edge"/>
          <c:yMode val="edge"/>
          <c:x val="9.1444216776758701E-3"/>
          <c:y val="4.1465927566569964E-2"/>
          <c:w val="0.9464108179470061"/>
          <c:h val="0.93606095425439106"/>
        </c:manualLayout>
      </c:layout>
      <c:barChart>
        <c:barDir val="col"/>
        <c:grouping val="clustered"/>
        <c:varyColors val="0"/>
        <c:ser>
          <c:idx val="0"/>
          <c:order val="0"/>
          <c:tx>
            <c:v>Slices</c:v>
          </c:tx>
          <c:spPr>
            <a:solidFill>
              <a:srgbClr val="00274C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Apto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Lit>
              <c:ptCount val="8"/>
              <c:pt idx="0">
                <c:v>Car Horn</c:v>
              </c:pt>
              <c:pt idx="1">
                <c:v>Construction</c:v>
              </c:pt>
              <c:pt idx="2">
                <c:v>Engine</c:v>
              </c:pt>
              <c:pt idx="3">
                <c:v>Glass Breaking</c:v>
              </c:pt>
              <c:pt idx="4">
                <c:v>Impulse Bang</c:v>
              </c:pt>
              <c:pt idx="5">
                <c:v>Music</c:v>
              </c:pt>
              <c:pt idx="6">
                <c:v>Siren</c:v>
              </c:pt>
              <c:pt idx="7">
                <c:v>Other</c:v>
              </c:pt>
            </c:strLit>
          </c:cat>
          <c:val>
            <c:numLit>
              <c:formatCode>General</c:formatCode>
              <c:ptCount val="8"/>
              <c:pt idx="0">
                <c:v>33682</c:v>
              </c:pt>
              <c:pt idx="1">
                <c:v>13045</c:v>
              </c:pt>
              <c:pt idx="2">
                <c:v>8309</c:v>
              </c:pt>
              <c:pt idx="3">
                <c:v>7000</c:v>
              </c:pt>
              <c:pt idx="4">
                <c:v>6704</c:v>
              </c:pt>
              <c:pt idx="5">
                <c:v>2130</c:v>
              </c:pt>
              <c:pt idx="6">
                <c:v>360</c:v>
              </c:pt>
              <c:pt idx="7">
                <c:v>1249</c:v>
              </c:pt>
            </c:numLit>
          </c:val>
          <c:extLst>
            <c:ext xmlns:c16="http://schemas.microsoft.com/office/drawing/2014/chart" uri="{C3380CC4-5D6E-409C-BE32-E72D297353CC}">
              <c16:uniqueId val="{00000000-C9DA-D643-A1B7-0CBCDBCB2D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86743408"/>
        <c:axId val="386740832"/>
      </c:barChart>
      <c:valAx>
        <c:axId val="386740832"/>
        <c:scaling>
          <c:orientation val="minMax"/>
          <c:max val="35000"/>
        </c:scaling>
        <c:delete val="0"/>
        <c:axPos val="l"/>
        <c:majorGridlines>
          <c:spPr>
            <a:ln w="9528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900" b="0" i="0" u="none" strike="noStrike" kern="1200" baseline="0">
                <a:solidFill>
                  <a:srgbClr val="000000"/>
                </a:solidFill>
                <a:latin typeface="Aptos"/>
              </a:defRPr>
            </a:pPr>
            <a:endParaRPr lang="zh-CN"/>
          </a:p>
        </c:txPr>
        <c:crossAx val="386743408"/>
        <c:crosses val="autoZero"/>
        <c:crossBetween val="between"/>
      </c:valAx>
      <c:catAx>
        <c:axId val="38674340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900" b="0" i="0" u="none" strike="noStrike" kern="1200" baseline="0">
                <a:solidFill>
                  <a:srgbClr val="000000"/>
                </a:solidFill>
                <a:latin typeface="Aptos"/>
              </a:defRPr>
            </a:pPr>
            <a:endParaRPr lang="zh-CN"/>
          </a:p>
        </c:txPr>
        <c:crossAx val="386740832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sz="1000" b="0" i="0" u="none" strike="noStrike" kern="1200" baseline="0">
          <a:solidFill>
            <a:srgbClr val="000000"/>
          </a:solidFill>
          <a:latin typeface="Aptos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94479E-E290-78EC-82CE-6F1058576ED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8B531-D3D4-27E0-D9E1-2A85E7AC6339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4851E97C-63BA-7A49-9E0E-1E62FF66AAC6}" type="datetime1">
              <a:rPr lang="en-US"/>
              <a:pPr lvl="0"/>
              <a:t>12/2/25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101A7D4-9138-7190-62C0-396856808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95BEBB8-46F6-A8DB-13AA-85EC421718C8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67C49-55D1-406D-69AC-08B555DC48E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511FB-87FC-48D4-A891-CBD30E22CE1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869A35A5-A365-784F-9D4A-0A0305AA92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80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Let's start with why this matters. People who have hearing difficulties often miss critical sounds like horns or sirens. This significantly </a:t>
            </a:r>
            <a:r>
              <a:rPr lang="en-US" altLang="zh-CN" b="1" dirty="0"/>
              <a:t>increases their risk of injury</a:t>
            </a:r>
            <a:r>
              <a:rPr lang="en-US" altLang="zh-CN" dirty="0"/>
              <a:t>, especially in traffic or on job sites.</a:t>
            </a:r>
          </a:p>
          <a:p>
            <a:r>
              <a:rPr lang="en-US" altLang="zh-CN" dirty="0"/>
              <a:t>Look at the first chart: you can see that as self-perceived hearing trouble increases, the risk of injury goes up, particularly during work and leisure time.</a:t>
            </a:r>
          </a:p>
          <a:p>
            <a:r>
              <a:rPr lang="en-US" altLang="zh-CN" dirty="0"/>
              <a:t>Our idea is simple: We want to build a </a:t>
            </a:r>
            <a:r>
              <a:rPr lang="en-US" altLang="zh-CN" b="1" dirty="0"/>
              <a:t>real-time sound safety assistant</a:t>
            </a:r>
            <a:r>
              <a:rPr lang="en-US" altLang="zh-CN" dirty="0"/>
              <a:t>. This system will detect hazardous street sounds—like construction or emergency vehicles—and give the user a clear </a:t>
            </a:r>
            <a:r>
              <a:rPr lang="en-US" altLang="zh-CN" b="1" dirty="0"/>
              <a:t>Risk Tier</a:t>
            </a:r>
            <a:r>
              <a:rPr lang="en-US" altLang="zh-CN" dirty="0"/>
              <a:t> alert.</a:t>
            </a:r>
          </a:p>
          <a:p>
            <a:r>
              <a:rPr lang="en-US" altLang="zh-CN" dirty="0"/>
              <a:t>To do this, we need to take raw sound, process it, and feed it into a classifier. That's what the rest of our presentation is about.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869A35A5-A365-784F-9D4A-0A0305AA92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07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869A35A5-A365-784F-9D4A-0A0305AA92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71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49898F6-FEDC-BF9C-1B47-34F0F4FCB9F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E076CD-9E42-AF4A-9B90-EF9E656B956D}" type="datetime1">
              <a:rPr lang="en-US"/>
              <a:pPr lvl="0"/>
              <a:t>12/2/25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EB91FCC-78B6-ACAB-378E-D62C7E14269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41AD939-2D9F-FCF6-DD6A-A45700C64E7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E538CB0-8711-F248-A634-F6C9D5A453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5997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477605-E393-33D2-4C10-88527118960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820FABA-E4A9-2C44-BA87-864014A7FD32}" type="datetime1">
              <a:rPr lang="en-US"/>
              <a:pPr lvl="0"/>
              <a:t>12/2/25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A1D6CDC-4F94-329D-E8DE-1E747695AB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F269AFE-AC65-077F-A38C-39DFB7D9D1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ADBEDC-6E73-E04E-8968-36B636A7AA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001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EA446E4-4139-09A4-E94C-2ACDAD52CD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7BA412-6B73-0B4A-B57D-AB93D967D2EC}" type="datetime1">
              <a:rPr lang="en-US"/>
              <a:pPr lvl="0"/>
              <a:t>12/2/25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67553BB-F7D7-5024-F2DD-D80C7C1D705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85A2595-51CD-C404-46CD-A50A2BF3E2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C60F82-0211-2E4F-9377-DD93C4B719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1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512C60A-E935-820D-A373-8B1C739B9D0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629150" y="1825627"/>
            <a:ext cx="3886200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77634C02-CF1F-7D26-635F-A9DA745D3F2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D8D8B5-EB63-2349-91DA-8DEF9F3E0965}" type="datetime1">
              <a:rPr lang="en-US"/>
              <a:pPr lvl="0"/>
              <a:t>12/2/25</a:t>
            </a:fld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578F72AA-2E87-B0EF-382B-9289EAA7708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C696985C-9B3F-C5B0-65AE-97005E5D9D7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A818D11-C06D-094E-AC7A-24132BB4FA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86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B152843A-542A-10D3-D14D-5831CC0CD75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29838" y="2505071"/>
            <a:ext cx="3868341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77B7D77-993B-7094-F3C4-7DC3BB4E6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29150" y="1681160"/>
            <a:ext cx="3887388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F415BDE-8A84-6B92-7E0A-241D32E91DB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4629150" y="2505071"/>
            <a:ext cx="3887388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0AD2E322-CAD8-B174-A8F4-318CC8AB5BF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C8557C-19AF-DD44-94C8-2E975B8BCC2A}" type="datetime1">
              <a:rPr lang="en-US"/>
              <a:pPr lvl="0"/>
              <a:t>12/2/25</a:t>
            </a:fld>
            <a:endParaRPr lang="en-US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65B5E55-F823-8350-7DD0-FBF321F0972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5750D835-2D97-4D48-0BD9-DE388E615B2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CD77FC-C2C7-674A-B575-B04C0E39C8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23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F23E55D-4C7B-8767-73F5-21DB16A9CF2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809D0E4-8DEC-40BA-2F4D-734A75EEDE8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F1B79AB-F1A3-B246-A1BB-4D5310D19D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0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2833CD0-53CC-0383-06C9-2AC412D0C7E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9A99AD4-7A9B-3249-BE4E-AD0D3FE9592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66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ECBFE2F-29A8-6E40-C184-0BB91A40DD5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9838" y="2057400"/>
            <a:ext cx="2949177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1E7FFBAF-FF00-8031-7143-4A31C4D0C40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D1AB02-6058-6943-88A9-7383EA9A9C28}" type="datetime1">
              <a:rPr lang="en-US"/>
              <a:pPr lvl="0"/>
              <a:t>12/2/25</a:t>
            </a:fld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BE38B758-9A01-2221-2640-EE186834259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2C691634-EFF2-AE15-A87C-43A998FB292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ED1A54-C30B-3B44-B2F8-E340299195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51431A6-35F5-1317-A210-073F675EE10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9838" y="2057400"/>
            <a:ext cx="2949177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CF2CE8EA-94FF-594A-FF4C-D941906F4A9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7526A8-1719-734D-B01A-6AFC459FEF7A}" type="datetime1">
              <a:rPr lang="en-US"/>
              <a:pPr lvl="0"/>
              <a:t>12/2/25</a:t>
            </a:fld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36063A3B-28B4-0F1A-ACB6-78FD6086006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FC5D1778-D5EC-13A0-2E28-6C71BDC888C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3A45B42-EE28-0640-A8DD-ADC1F3FEA2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E938EBB-91BD-FC46-AB28-46953E0817B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00851A-2695-F747-9A61-2C934408A5C5}" type="datetime1">
              <a:rPr lang="en-US"/>
              <a:pPr lvl="0"/>
              <a:t>12/2/25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EE165C0-D7A8-3C18-C27B-29BBA31C272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6952A8-78AC-E01D-807A-72F02747049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4DA3FB-C2C7-A44B-A97E-5544B6A081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49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77106CF-B300-1D34-8FFE-7FB045F872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4DE4EE1-6D51-1F4A-9726-9A1B4D9064E7}" type="datetime1">
              <a:rPr lang="en-US"/>
              <a:pPr lvl="0"/>
              <a:t>12/2/25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3028412-72D7-9177-CBB9-6B72245CDA9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FE6C3A2-9B5B-A4DF-88C3-AEA1209906F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79C7A4-E7E1-504B-A00F-DC635F77649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9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440B6-8ED7-24A2-6808-B7143A8D3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7DF99-1A52-4E4A-04D8-7F01DB3436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B5750-2AB1-0C1D-9158-E1CB9447C80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249A1716-DF74-7A40-AF34-F13DA60A8AF8}" type="datetime1">
              <a:rPr lang="en-US"/>
              <a:pPr lvl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27E3D-033B-583D-A9C6-39B6C66A7E1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9D135-AAD5-FC9A-D41D-25F0F23D7F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958282" y="6356351"/>
            <a:ext cx="20574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3978361F-A2F8-C44E-8029-26CA421C1D83}" type="slidenum"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42DAE2-F0BF-D11B-A37B-2A0DA2C72D17}"/>
              </a:ext>
            </a:extLst>
          </p:cNvPr>
          <p:cNvSpPr/>
          <p:nvPr/>
        </p:nvSpPr>
        <p:spPr>
          <a:xfrm>
            <a:off x="0" y="0"/>
            <a:ext cx="9144000" cy="552325"/>
          </a:xfrm>
          <a:prstGeom prst="rect">
            <a:avLst/>
          </a:prstGeom>
          <a:solidFill>
            <a:srgbClr val="061F3F"/>
          </a:solidFill>
          <a:ln w="19046" cap="flat">
            <a:solidFill>
              <a:srgbClr val="061F3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8" name="Picture 7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9D114247-1AA6-DEEC-DB9F-5014137BFF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953" y="69576"/>
            <a:ext cx="3291849" cy="410099"/>
          </a:xfrm>
          <a:prstGeom prst="rect">
            <a:avLst/>
          </a:prstGeom>
          <a:noFill/>
          <a:ln cap="flat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andviewresearch.com/industry-analysis/us-hearing-aids-market-report" TargetMode="External"/><Relationship Id="rId2" Type="http://schemas.openxmlformats.org/officeDocument/2006/relationships/hyperlink" Target="https://doi.org/10.1001/jamaoto.2018.0039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78AA7B7-A72E-AD99-C6CC-61CAA119455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996A3096-EFC7-5B41-B6FD-CE2C4FD07F6B}" type="slidenum">
              <a:rPr lang="en-US"/>
              <a:t>1</a:t>
            </a:fld>
            <a:endParaRPr lang="en-US"/>
          </a:p>
        </p:txBody>
      </p:sp>
      <p:pic>
        <p:nvPicPr>
          <p:cNvPr id="3" name="图片 7" descr="图片包含 文本&#10;&#10;AI 生成的内容可能不正确。">
            <a:extLst>
              <a:ext uri="{FF2B5EF4-FFF2-40B4-BE49-F238E27FC236}">
                <a16:creationId xmlns:a16="http://schemas.microsoft.com/office/drawing/2014/main" id="{D8192096-B832-C544-B01C-8844DCF896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650" t="127" r="5779" b="5860"/>
          <a:stretch>
            <a:fillRect/>
          </a:stretch>
        </p:blipFill>
        <p:spPr>
          <a:xfrm>
            <a:off x="-360301" y="545018"/>
            <a:ext cx="9503578" cy="631372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A7D5-A527-0A93-BEDB-A761DDFFD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2431" y="209214"/>
            <a:ext cx="8210790" cy="14933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 b="1"/>
              <a:t>Background &amp; Motivation</a:t>
            </a:r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C00183DF-54A9-49B4-CD0C-BF78BD80B444}"/>
              </a:ext>
            </a:extLst>
          </p:cNvPr>
          <p:cNvCxnSpPr/>
          <p:nvPr/>
        </p:nvCxnSpPr>
        <p:spPr>
          <a:xfrm>
            <a:off x="457200" y="1261268"/>
            <a:ext cx="8229600" cy="0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</p:spPr>
      </p:cxnSp>
      <p:pic>
        <p:nvPicPr>
          <p:cNvPr id="4" name="Picture 3" descr="Figure. ">
            <a:extLst>
              <a:ext uri="{FF2B5EF4-FFF2-40B4-BE49-F238E27FC236}">
                <a16:creationId xmlns:a16="http://schemas.microsoft.com/office/drawing/2014/main" id="{92D37CC9-8C5A-5168-3BC6-6EC65CD24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62" y="4423071"/>
            <a:ext cx="4207940" cy="18847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39391B69-9E0A-9012-43BE-21F279E682C9}"/>
              </a:ext>
            </a:extLst>
          </p:cNvPr>
          <p:cNvSpPr txBox="1"/>
          <p:nvPr/>
        </p:nvSpPr>
        <p:spPr>
          <a:xfrm>
            <a:off x="362504" y="6375809"/>
            <a:ext cx="4211890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828282"/>
                </a:solidFill>
                <a:uFillTx/>
                <a:latin typeface="Aptos"/>
              </a:rPr>
              <a:t>Figure [1]: </a:t>
            </a:r>
            <a:r>
              <a:rPr lang="en-US" sz="1200" b="0" i="0" u="none" strike="noStrike" kern="1200" cap="none" spc="0" baseline="0">
                <a:solidFill>
                  <a:srgbClr val="828282"/>
                </a:solidFill>
                <a:uFillTx/>
                <a:latin typeface="Aptos"/>
                <a:ea typeface="Aptos"/>
                <a:cs typeface="Aptos"/>
              </a:rPr>
              <a:t>Risk of injury correlated with hearing difficulty.</a:t>
            </a:r>
            <a:endParaRPr lang="en-US" sz="1200" b="0" i="0" u="none" strike="noStrike" kern="1200" cap="none" spc="0" baseline="0">
              <a:solidFill>
                <a:srgbClr val="828282"/>
              </a:solidFill>
              <a:uFillTx/>
              <a:latin typeface="Aptos"/>
            </a:endParaRP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162B9BC7-DD46-739A-7331-0A89FB2D6DC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6AA110A-9661-C649-A1C7-0C0DF0EEFFE6}" type="slidenum">
              <a:rPr lang="en-US"/>
              <a:t>2</a:t>
            </a:fld>
            <a:endParaRPr lang="en-US"/>
          </a:p>
        </p:txBody>
      </p:sp>
      <p:pic>
        <p:nvPicPr>
          <p:cNvPr id="7" name="Picture 8" descr="U.S. Hearing Aids Market size and growth rate, 2024 - 2030">
            <a:extLst>
              <a:ext uri="{FF2B5EF4-FFF2-40B4-BE49-F238E27FC236}">
                <a16:creationId xmlns:a16="http://schemas.microsoft.com/office/drawing/2014/main" id="{7DF3E74C-C2F8-4702-2FB7-7B289BBB9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498" y="4381201"/>
            <a:ext cx="3653156" cy="197122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62FED99E-0BC7-E49D-791B-1F017ACACAF9}"/>
              </a:ext>
            </a:extLst>
          </p:cNvPr>
          <p:cNvSpPr txBox="1"/>
          <p:nvPr/>
        </p:nvSpPr>
        <p:spPr>
          <a:xfrm>
            <a:off x="4639711" y="6375809"/>
            <a:ext cx="4211890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828282"/>
                </a:solidFill>
                <a:uFillTx/>
                <a:latin typeface="Aptos"/>
              </a:rPr>
              <a:t>Figure [2]: Projected g</a:t>
            </a:r>
            <a:r>
              <a:rPr lang="en-US" sz="1200" b="0" i="0" u="none" strike="noStrike" kern="1200" cap="none" spc="0" baseline="0">
                <a:solidFill>
                  <a:srgbClr val="828282"/>
                </a:solidFill>
                <a:uFillTx/>
                <a:latin typeface="Aptos"/>
                <a:ea typeface="Aptos"/>
                <a:cs typeface="Aptos"/>
              </a:rPr>
              <a:t>rowth of Hearing Aids Market</a:t>
            </a:r>
            <a:endParaRPr lang="en-US" sz="1200" b="0" i="0" u="none" strike="noStrike" kern="1200" cap="none" spc="0" baseline="0">
              <a:solidFill>
                <a:srgbClr val="828282"/>
              </a:solidFill>
              <a:uFillTx/>
              <a:latin typeface="Aptos"/>
            </a:endParaRPr>
          </a:p>
        </p:txBody>
      </p:sp>
      <p:sp>
        <p:nvSpPr>
          <p:cNvPr id="9" name="文本框 10">
            <a:extLst>
              <a:ext uri="{FF2B5EF4-FFF2-40B4-BE49-F238E27FC236}">
                <a16:creationId xmlns:a16="http://schemas.microsoft.com/office/drawing/2014/main" id="{0CC0566E-7A76-D1ED-A7DC-95E424D1D80E}"/>
              </a:ext>
            </a:extLst>
          </p:cNvPr>
          <p:cNvSpPr txBox="1"/>
          <p:nvPr/>
        </p:nvSpPr>
        <p:spPr>
          <a:xfrm>
            <a:off x="453999" y="1429682"/>
            <a:ext cx="4088017" cy="329321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Why it matters:</a:t>
            </a: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 pitchFamily="2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People with hearing difficulty miss </a:t>
            </a:r>
            <a:r>
              <a:rPr lang="en-US" sz="1800" b="1" i="0" u="none" strike="noStrike" kern="1200" cap="none" spc="0" baseline="0">
                <a:solidFill>
                  <a:srgbClr val="205C96"/>
                </a:solidFill>
                <a:uFillTx/>
                <a:latin typeface="Aptos"/>
                <a:ea typeface="等线"/>
              </a:rPr>
              <a:t>horns, sirens, construction cues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1" i="0" u="none" strike="noStrike" kern="1200" cap="none" spc="0" baseline="0">
              <a:solidFill>
                <a:srgbClr val="205C96"/>
              </a:solidFill>
              <a:uFillTx/>
              <a:latin typeface="Aptos"/>
              <a:ea typeface="等线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Increases </a:t>
            </a:r>
            <a:r>
              <a:rPr lang="en-US" sz="1800" b="1" i="0" u="none" strike="noStrike" kern="1200" cap="none" spc="0" baseline="0">
                <a:solidFill>
                  <a:srgbClr val="205C96"/>
                </a:solidFill>
                <a:uFillTx/>
                <a:latin typeface="Aptos"/>
                <a:ea typeface="等线"/>
              </a:rPr>
              <a:t>injury risk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, especially in traffic and work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We need a real-time sound safety assistant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</p:txBody>
      </p:sp>
      <p:sp>
        <p:nvSpPr>
          <p:cNvPr id="10" name="文本框 11">
            <a:extLst>
              <a:ext uri="{FF2B5EF4-FFF2-40B4-BE49-F238E27FC236}">
                <a16:creationId xmlns:a16="http://schemas.microsoft.com/office/drawing/2014/main" id="{952DE6C7-C01B-17A1-3A63-339EF84448DD}"/>
              </a:ext>
            </a:extLst>
          </p:cNvPr>
          <p:cNvSpPr txBox="1"/>
          <p:nvPr/>
        </p:nvSpPr>
        <p:spPr>
          <a:xfrm>
            <a:off x="4586164" y="1429682"/>
            <a:ext cx="4255846" cy="273921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ea typeface="等线"/>
              </a:rPr>
              <a:t>Our idea:</a:t>
            </a: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Aptos Display"/>
              <a:ea typeface="等线" pitchFamily="2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 Display"/>
              <a:ea typeface="等线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CN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ea typeface="Aptos"/>
                <a:cs typeface="Aptos"/>
              </a:rPr>
              <a:t>Detect </a:t>
            </a:r>
            <a:r>
              <a:rPr lang="zh-CN" sz="1800" b="1" i="0" u="none" strike="noStrike" kern="1200" cap="none" spc="0" baseline="0">
                <a:solidFill>
                  <a:srgbClr val="205C96"/>
                </a:solidFill>
                <a:uFillTx/>
                <a:latin typeface="Aptos Display"/>
                <a:ea typeface="Aptos"/>
                <a:cs typeface="Aptos"/>
              </a:rPr>
              <a:t>hazardous street sounds</a:t>
            </a:r>
            <a:endParaRPr lang="zh-CN" sz="1800" b="0" i="0" u="none" strike="noStrike" kern="1200" cap="none" spc="0" baseline="0">
              <a:solidFill>
                <a:srgbClr val="205C96"/>
              </a:solidFill>
              <a:uFillTx/>
              <a:latin typeface="Aptos Display"/>
              <a:ea typeface="Aptos"/>
              <a:cs typeface="Aptos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1" i="0" u="none" strike="noStrike" kern="1200" cap="none" spc="0" baseline="0">
              <a:solidFill>
                <a:srgbClr val="205C96"/>
              </a:solidFill>
              <a:uFillTx/>
              <a:latin typeface="Aptos Display"/>
              <a:ea typeface="等线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ea typeface="等线"/>
              </a:rPr>
              <a:t>Ouput </a:t>
            </a:r>
            <a:r>
              <a:rPr lang="en-US" sz="1800" b="1" i="0" u="none" strike="noStrike" kern="1200" cap="none" spc="0" baseline="0">
                <a:solidFill>
                  <a:srgbClr val="205C96"/>
                </a:solidFill>
                <a:uFillTx/>
                <a:latin typeface="Aptos Display"/>
                <a:ea typeface="等线"/>
              </a:rPr>
              <a:t>class label, calibrated confidence, risk tier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 Display"/>
              <a:ea typeface="等线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ea typeface="等线"/>
              </a:rPr>
              <a:t>Preprocessing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Wingdings" pitchFamily="2"/>
                <a:ea typeface="等线"/>
              </a:rPr>
              <a:t>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ea typeface="等线"/>
              </a:rPr>
              <a:t>  slice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Wingdings" pitchFamily="2"/>
                <a:ea typeface="等线"/>
              </a:rPr>
              <a:t>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ea typeface="等线"/>
              </a:rPr>
              <a:t> log-Mel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Wingdings" pitchFamily="2"/>
                <a:ea typeface="等线"/>
              </a:rPr>
              <a:t>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ea typeface="等线"/>
              </a:rPr>
              <a:t> features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Wingdings" pitchFamily="2"/>
                <a:ea typeface="等线"/>
              </a:rPr>
              <a:t>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  <a:ea typeface="等线"/>
              </a:rPr>
              <a:t> classifier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07F6-4343-30FC-1DEC-C8B36F5682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 b="1"/>
              <a:t>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5DB07-4BAF-9B9F-8D4D-22B6A26560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30144" y="1363443"/>
            <a:ext cx="3943350" cy="4131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lvl="0" indent="0" algn="ctr">
              <a:buNone/>
            </a:pPr>
            <a:r>
              <a:rPr lang="en-US"/>
              <a:t>Data Used</a:t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54BBEAF4-D75F-D077-7AEA-2F3CD21D9D5D}"/>
              </a:ext>
            </a:extLst>
          </p:cNvPr>
          <p:cNvCxnSpPr/>
          <p:nvPr/>
        </p:nvCxnSpPr>
        <p:spPr>
          <a:xfrm>
            <a:off x="457200" y="1365436"/>
            <a:ext cx="8229600" cy="0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5" name="Straight Connector 7">
            <a:extLst>
              <a:ext uri="{FF2B5EF4-FFF2-40B4-BE49-F238E27FC236}">
                <a16:creationId xmlns:a16="http://schemas.microsoft.com/office/drawing/2014/main" id="{BD1EA9E4-025E-E445-6C87-793870F25C98}"/>
              </a:ext>
            </a:extLst>
          </p:cNvPr>
          <p:cNvCxnSpPr/>
          <p:nvPr/>
        </p:nvCxnSpPr>
        <p:spPr>
          <a:xfrm flipV="1">
            <a:off x="457200" y="1791282"/>
            <a:ext cx="5100815" cy="17355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DBF68410-A75F-07E7-14E3-9307FFEC14EE}"/>
              </a:ext>
            </a:extLst>
          </p:cNvPr>
          <p:cNvCxnSpPr/>
          <p:nvPr/>
        </p:nvCxnSpPr>
        <p:spPr>
          <a:xfrm flipV="1">
            <a:off x="463107" y="4372432"/>
            <a:ext cx="5075377" cy="11576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</p:spPr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B996022-645F-09B5-A0DC-4CC6B42F5EBF}"/>
              </a:ext>
            </a:extLst>
          </p:cNvPr>
          <p:cNvSpPr txBox="1"/>
          <p:nvPr/>
        </p:nvSpPr>
        <p:spPr>
          <a:xfrm>
            <a:off x="1022189" y="3967746"/>
            <a:ext cx="3943350" cy="41318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Class Distribution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340AA6-2752-034E-5AC5-44F7B7AE4884}"/>
              </a:ext>
            </a:extLst>
          </p:cNvPr>
          <p:cNvSpPr txBox="1"/>
          <p:nvPr/>
        </p:nvSpPr>
        <p:spPr>
          <a:xfrm>
            <a:off x="506001" y="3693718"/>
            <a:ext cx="3975902" cy="41056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828282"/>
                </a:solidFill>
                <a:uFillTx/>
                <a:latin typeface="Aptos"/>
              </a:rPr>
              <a:t>Table[1]. Sample Audio data originated from noise source classes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85977A1-BDB2-BC4E-3F99-7D24BAE9A0B6}"/>
              </a:ext>
            </a:extLst>
          </p:cNvPr>
          <p:cNvSpPr txBox="1"/>
          <p:nvPr/>
        </p:nvSpPr>
        <p:spPr>
          <a:xfrm>
            <a:off x="436552" y="6498841"/>
            <a:ext cx="4114800" cy="2583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828282"/>
                </a:solidFill>
                <a:uFillTx/>
                <a:latin typeface="Aptos"/>
              </a:rPr>
              <a:t>Figure[3]. Preprocessed 1-second slices, organized by class </a:t>
            </a:r>
            <a:endParaRPr lang="en-US" sz="1100" b="0" i="0" u="none" strike="noStrike" kern="1200" cap="none" spc="0" baseline="0">
              <a:solidFill>
                <a:srgbClr val="828282"/>
              </a:solidFill>
              <a:highlight>
                <a:srgbClr val="FFFF00"/>
              </a:highlight>
              <a:uFillTx/>
              <a:latin typeface="Aptos"/>
            </a:endParaRPr>
          </a:p>
        </p:txBody>
      </p:sp>
      <p:graphicFrame>
        <p:nvGraphicFramePr>
          <p:cNvPr id="10" name="Chart 16">
            <a:extLst>
              <a:ext uri="{FF2B5EF4-FFF2-40B4-BE49-F238E27FC236}">
                <a16:creationId xmlns:a16="http://schemas.microsoft.com/office/drawing/2014/main" id="{06C4DBAB-1804-B0A7-8004-D85786FE8F2F}"/>
              </a:ext>
            </a:extLst>
          </p:cNvPr>
          <p:cNvGraphicFramePr/>
          <p:nvPr/>
        </p:nvGraphicFramePr>
        <p:xfrm>
          <a:off x="493620" y="4411934"/>
          <a:ext cx="5064395" cy="2139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18">
            <a:extLst>
              <a:ext uri="{FF2B5EF4-FFF2-40B4-BE49-F238E27FC236}">
                <a16:creationId xmlns:a16="http://schemas.microsoft.com/office/drawing/2014/main" id="{39418EA9-A73B-A2C0-FE11-1914345DB491}"/>
              </a:ext>
            </a:extLst>
          </p:cNvPr>
          <p:cNvGraphicFramePr>
            <a:graphicFrameLocks noGrp="1"/>
          </p:cNvGraphicFramePr>
          <p:nvPr/>
        </p:nvGraphicFramePr>
        <p:xfrm>
          <a:off x="470467" y="1883865"/>
          <a:ext cx="5085508" cy="18101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01775">
                  <a:extLst>
                    <a:ext uri="{9D8B030D-6E8A-4147-A177-3AD203B41FA5}">
                      <a16:colId xmlns:a16="http://schemas.microsoft.com/office/drawing/2014/main" val="158750175"/>
                    </a:ext>
                  </a:extLst>
                </a:gridCol>
                <a:gridCol w="1401775">
                  <a:extLst>
                    <a:ext uri="{9D8B030D-6E8A-4147-A177-3AD203B41FA5}">
                      <a16:colId xmlns:a16="http://schemas.microsoft.com/office/drawing/2014/main" val="3230604761"/>
                    </a:ext>
                  </a:extLst>
                </a:gridCol>
                <a:gridCol w="1140979">
                  <a:extLst>
                    <a:ext uri="{9D8B030D-6E8A-4147-A177-3AD203B41FA5}">
                      <a16:colId xmlns:a16="http://schemas.microsoft.com/office/drawing/2014/main" val="9586330"/>
                    </a:ext>
                  </a:extLst>
                </a:gridCol>
                <a:gridCol w="1140979">
                  <a:extLst>
                    <a:ext uri="{9D8B030D-6E8A-4147-A177-3AD203B41FA5}">
                      <a16:colId xmlns:a16="http://schemas.microsoft.com/office/drawing/2014/main" val="2269460564"/>
                    </a:ext>
                  </a:extLst>
                </a:gridCol>
              </a:tblGrid>
              <a:tr h="181014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Aptos Narrow"/>
                        </a:rPr>
                        <a:t>Source Class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Aptos Narrow"/>
                        </a:rPr>
                        <a:t>Target Class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Aptos Narrow"/>
                        </a:rPr>
                        <a:t>Hazardous?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Aptos Narrow"/>
                        </a:rPr>
                        <a:t>Risk Weight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473808"/>
                  </a:ext>
                </a:extLst>
              </a:tr>
              <a:tr h="181014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Air Conditioner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Other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0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0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59854227"/>
                  </a:ext>
                </a:extLst>
              </a:tr>
              <a:tr h="181014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Car Horn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Car Horn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1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0.8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27568353"/>
                  </a:ext>
                </a:extLst>
              </a:tr>
              <a:tr h="181014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Children Playing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Other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0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0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43474501"/>
                  </a:ext>
                </a:extLst>
              </a:tr>
              <a:tr h="181014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Dog Bark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Other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0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0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11854461"/>
                  </a:ext>
                </a:extLst>
              </a:tr>
              <a:tr h="181014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Drilling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Construction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1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0.7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060398"/>
                  </a:ext>
                </a:extLst>
              </a:tr>
              <a:tr h="181014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Gunshot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Impulse Bang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1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1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16540553"/>
                  </a:ext>
                </a:extLst>
              </a:tr>
              <a:tr h="181014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Airplane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Engine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1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0.4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07968690"/>
                  </a:ext>
                </a:extLst>
              </a:tr>
              <a:tr h="181014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Chainsaw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Construction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1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0.7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05836991"/>
                  </a:ext>
                </a:extLst>
              </a:tr>
              <a:tr h="181014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Siren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Siren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1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t>1</a:t>
                      </a:r>
                    </a:p>
                  </a:txBody>
                  <a:tcPr marL="6345" marR="6345" marT="6345" marB="0" anchor="b">
                    <a:lnL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430212"/>
                  </a:ext>
                </a:extLst>
              </a:tr>
            </a:tbl>
          </a:graphicData>
        </a:graphic>
      </p:graphicFrame>
      <p:sp>
        <p:nvSpPr>
          <p:cNvPr id="12" name="Slide Number Placeholder 20">
            <a:extLst>
              <a:ext uri="{FF2B5EF4-FFF2-40B4-BE49-F238E27FC236}">
                <a16:creationId xmlns:a16="http://schemas.microsoft.com/office/drawing/2014/main" id="{295B2AA7-3FF5-2862-0C3F-6B60F640019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3D37FFB6-A052-AE4F-BE88-5D2718A49365}" type="slidenum">
              <a:rPr lang="en-US"/>
              <a:t>3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147D0CB-C5D3-8D8C-723A-BC7D481C01E9}"/>
              </a:ext>
            </a:extLst>
          </p:cNvPr>
          <p:cNvSpPr txBox="1"/>
          <p:nvPr/>
        </p:nvSpPr>
        <p:spPr>
          <a:xfrm>
            <a:off x="5939018" y="2496074"/>
            <a:ext cx="2934657" cy="3897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Over </a:t>
            </a:r>
            <a:r>
              <a:rPr lang="en-US" sz="2000" b="1" i="0" u="none" strike="noStrike" kern="1200" cap="none" spc="0" baseline="0">
                <a:solidFill>
                  <a:srgbClr val="205C96"/>
                </a:solidFill>
                <a:uFillTx/>
                <a:latin typeface="Calibri"/>
                <a:ea typeface="Calibri"/>
                <a:cs typeface="Calibri"/>
              </a:rPr>
              <a:t>17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original classes</a:t>
            </a: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 pitchFamily="2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                        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F22129C-E62E-69B9-58F6-6B775D3AE98B}"/>
              </a:ext>
            </a:extLst>
          </p:cNvPr>
          <p:cNvSpPr txBox="1"/>
          <p:nvPr/>
        </p:nvSpPr>
        <p:spPr>
          <a:xfrm>
            <a:off x="5939009" y="3283153"/>
            <a:ext cx="2934657" cy="6386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205C96"/>
                </a:solidFill>
                <a:uFillTx/>
                <a:latin typeface="Calibri"/>
                <a:ea typeface="Aptos"/>
                <a:cs typeface="Aptos"/>
              </a:rPr>
              <a:t>8</a:t>
            </a:r>
            <a:r>
              <a:rPr lang="en-US" sz="2000" b="1" i="0" u="none" strike="noStrike" kern="1200" cap="none" spc="0" baseline="0">
                <a:solidFill>
                  <a:srgbClr val="061F3F"/>
                </a:solidFill>
                <a:uFillTx/>
                <a:latin typeface="Calibri"/>
                <a:ea typeface="Aptos"/>
                <a:cs typeface="Aptos"/>
              </a:rPr>
              <a:t> 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Aptos"/>
                <a:cs typeface="Aptos"/>
              </a:rPr>
              <a:t>clean, project-specific target classes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75BBE57-EE6A-F295-BD02-66077AA9B48C}"/>
              </a:ext>
            </a:extLst>
          </p:cNvPr>
          <p:cNvSpPr txBox="1"/>
          <p:nvPr/>
        </p:nvSpPr>
        <p:spPr>
          <a:xfrm>
            <a:off x="5941908" y="4368079"/>
            <a:ext cx="2934657" cy="11247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About </a:t>
            </a:r>
            <a:r>
              <a:rPr lang="en-US" sz="2000" b="1" i="0" u="none" strike="noStrike" kern="1200" cap="none" spc="0" baseline="0">
                <a:solidFill>
                  <a:srgbClr val="205C96"/>
                </a:solidFill>
                <a:uFillTx/>
                <a:latin typeface="Calibri"/>
                <a:ea typeface="Calibri"/>
                <a:cs typeface="Calibri"/>
              </a:rPr>
              <a:t>70,000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segments</a:t>
            </a:r>
            <a:endParaRPr lang="zh-CN" sz="28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 pitchFamily="2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Large gap in sample size of </a:t>
            </a:r>
            <a:r>
              <a:rPr lang="en-US" sz="2000" b="1" i="0" u="none" strike="noStrike" kern="1200" cap="none" spc="0" baseline="0">
                <a:solidFill>
                  <a:srgbClr val="205C96"/>
                </a:solidFill>
                <a:uFillTx/>
                <a:latin typeface="Calibri"/>
                <a:ea typeface="Calibri"/>
                <a:cs typeface="Calibri"/>
              </a:rPr>
              <a:t>different classes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                        </a:t>
            </a:r>
          </a:p>
        </p:txBody>
      </p:sp>
      <p:sp>
        <p:nvSpPr>
          <p:cNvPr id="16" name="箭头: 下 21">
            <a:extLst>
              <a:ext uri="{FF2B5EF4-FFF2-40B4-BE49-F238E27FC236}">
                <a16:creationId xmlns:a16="http://schemas.microsoft.com/office/drawing/2014/main" id="{08584208-0E4B-0478-5EBB-87001A224A57}"/>
              </a:ext>
            </a:extLst>
          </p:cNvPr>
          <p:cNvSpPr/>
          <p:nvPr/>
        </p:nvSpPr>
        <p:spPr>
          <a:xfrm>
            <a:off x="7315172" y="5488795"/>
            <a:ext cx="179688" cy="399300"/>
          </a:xfrm>
          <a:custGeom>
            <a:avLst>
              <a:gd name="f0" fmla="val 1674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  <a:solidFill>
            <a:srgbClr val="061F3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  <a:ea typeface="等线" pitchFamily="2"/>
            </a:endParaRPr>
          </a:p>
        </p:txBody>
      </p:sp>
      <p:sp>
        <p:nvSpPr>
          <p:cNvPr id="17" name="箭头: 下 23">
            <a:extLst>
              <a:ext uri="{FF2B5EF4-FFF2-40B4-BE49-F238E27FC236}">
                <a16:creationId xmlns:a16="http://schemas.microsoft.com/office/drawing/2014/main" id="{DDB42055-8959-E92E-AE35-84F1D0E890BF}"/>
              </a:ext>
            </a:extLst>
          </p:cNvPr>
          <p:cNvSpPr/>
          <p:nvPr/>
        </p:nvSpPr>
        <p:spPr>
          <a:xfrm>
            <a:off x="7228359" y="2881795"/>
            <a:ext cx="179688" cy="399300"/>
          </a:xfrm>
          <a:custGeom>
            <a:avLst>
              <a:gd name="f0" fmla="val 1674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  <a:solidFill>
            <a:srgbClr val="061F3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  <a:ea typeface="等线" pitchFamily="2"/>
            </a:endParaRPr>
          </a:p>
        </p:txBody>
      </p:sp>
      <p:sp>
        <p:nvSpPr>
          <p:cNvPr id="18" name="箭头: 下 24">
            <a:extLst>
              <a:ext uri="{FF2B5EF4-FFF2-40B4-BE49-F238E27FC236}">
                <a16:creationId xmlns:a16="http://schemas.microsoft.com/office/drawing/2014/main" id="{72A83BCD-4063-728D-559B-B2561CF350B5}"/>
              </a:ext>
            </a:extLst>
          </p:cNvPr>
          <p:cNvSpPr/>
          <p:nvPr/>
        </p:nvSpPr>
        <p:spPr>
          <a:xfrm>
            <a:off x="13312063" y="4856616"/>
            <a:ext cx="179688" cy="399300"/>
          </a:xfrm>
          <a:custGeom>
            <a:avLst>
              <a:gd name="f0" fmla="val 1674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  <a:solidFill>
            <a:srgbClr val="061F3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  <a:ea typeface="等线" pitchFamily="2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0D145F7-18C9-727A-278A-1597045021BC}"/>
              </a:ext>
            </a:extLst>
          </p:cNvPr>
          <p:cNvSpPr txBox="1"/>
          <p:nvPr/>
        </p:nvSpPr>
        <p:spPr>
          <a:xfrm>
            <a:off x="5759604" y="5953813"/>
            <a:ext cx="3299255" cy="603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Calibri"/>
                <a:cs typeface="Calibri"/>
              </a:rPr>
              <a:t>Substantial amount of data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Calibri"/>
                <a:cs typeface="Calibri"/>
              </a:rPr>
              <a:t>But severe </a:t>
            </a:r>
            <a:r>
              <a:rPr lang="en-US" sz="2000" b="1" i="0" u="none" strike="noStrike" kern="1200" cap="none" spc="0" baseline="0">
                <a:solidFill>
                  <a:srgbClr val="205C96"/>
                </a:solidFill>
                <a:uFillTx/>
                <a:latin typeface="Aptos"/>
                <a:ea typeface="Calibri"/>
                <a:cs typeface="Calibri"/>
              </a:rPr>
              <a:t>imbalance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AC064F61-EB8A-B739-15A5-AED168148F78}"/>
              </a:ext>
            </a:extLst>
          </p:cNvPr>
          <p:cNvSpPr/>
          <p:nvPr/>
        </p:nvSpPr>
        <p:spPr>
          <a:xfrm>
            <a:off x="-3977082" y="412485"/>
            <a:ext cx="3849285" cy="6471437"/>
          </a:xfrm>
          <a:prstGeom prst="rect">
            <a:avLst/>
          </a:prstGeom>
          <a:solidFill>
            <a:srgbClr val="15608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For this project we start from two public environmental sound datasets: UrbanSound8K and ESC-50. We don’t use their 17 original labels directly; instead, we map them into eight target classes that are meaningful for safety — things like car horns, sirens, construction, engines, impulse bangs, airplanes, plus an ‘other’ bucket.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Each of these target classes is also tagged with </a:t>
            </a:r>
            <a:r>
              <a:rPr lang="en-US" sz="1600" b="0" i="0" u="none" strike="noStrike" kern="1200" cap="none" spc="0" baseline="0" dirty="0" err="1">
                <a:solidFill>
                  <a:srgbClr val="FFFFFF"/>
                </a:solidFill>
                <a:uFillTx/>
                <a:latin typeface="Aptos"/>
              </a:rPr>
              <a:t>is_hazard</a:t>
            </a:r>
            <a:r>
              <a:rPr lang="en-US" sz="16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, which is either 1 or 0, and a risk weight for hazardous classes. That lets us treat something like a gunshot or siren as higher-risk than, say, an airplane engine, when we eventually build an alert system.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After preprocessing and slicing the audio into 1-second chunks, we end up with about seventy thousand segments. That’s a substantial dataset, but the bar chart shows a big imbalance: classes like car horn have tens of thousands of slices, while rare events like sirens have only a few thousand or less. So a key challenge for our models is learning from this imbalanced but realistic data.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24A1808-4B41-19BA-CB37-7837F94AEA2A}"/>
              </a:ext>
            </a:extLst>
          </p:cNvPr>
          <p:cNvSpPr txBox="1"/>
          <p:nvPr/>
        </p:nvSpPr>
        <p:spPr>
          <a:xfrm>
            <a:off x="5939009" y="1758601"/>
            <a:ext cx="2934657" cy="6022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Datasets: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UrbanSound8K and ESC-50</a:t>
            </a: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 pitchFamily="2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                       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CC8F-9147-A962-C99A-06BEDBFA88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 b="1"/>
              <a:t>Pipeline </a:t>
            </a:r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DDA881E9-C10A-134C-4617-2AF7C083CC23}"/>
              </a:ext>
            </a:extLst>
          </p:cNvPr>
          <p:cNvCxnSpPr/>
          <p:nvPr/>
        </p:nvCxnSpPr>
        <p:spPr>
          <a:xfrm>
            <a:off x="457200" y="1365436"/>
            <a:ext cx="8229600" cy="0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</p:spPr>
      </p:cxnSp>
      <p:sp>
        <p:nvSpPr>
          <p:cNvPr id="4" name="Slide Number Placeholder 20">
            <a:extLst>
              <a:ext uri="{FF2B5EF4-FFF2-40B4-BE49-F238E27FC236}">
                <a16:creationId xmlns:a16="http://schemas.microsoft.com/office/drawing/2014/main" id="{ADCFEBCB-C7C1-8048-83EF-A79ABB9C78B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E6A792F9-E8C1-3640-B2C1-318F4B72EB0C}" type="slidenum">
              <a:t>4</a:t>
            </a:fld>
            <a:endParaRPr lang="en-US"/>
          </a:p>
        </p:txBody>
      </p:sp>
      <p:sp>
        <p:nvSpPr>
          <p:cNvPr id="5" name="箭头: 右 3">
            <a:extLst>
              <a:ext uri="{FF2B5EF4-FFF2-40B4-BE49-F238E27FC236}">
                <a16:creationId xmlns:a16="http://schemas.microsoft.com/office/drawing/2014/main" id="{D6B5208C-54D8-BFD0-C9CA-58E5AC2C9BC7}"/>
              </a:ext>
            </a:extLst>
          </p:cNvPr>
          <p:cNvSpPr/>
          <p:nvPr/>
        </p:nvSpPr>
        <p:spPr>
          <a:xfrm>
            <a:off x="450908" y="3760506"/>
            <a:ext cx="8419475" cy="337276"/>
          </a:xfrm>
          <a:custGeom>
            <a:avLst>
              <a:gd name="f0" fmla="val 21167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061F3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  <a:ea typeface="等线" pitchFamily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E5B5B3-5D56-D2F4-048C-92B0B4474955}"/>
              </a:ext>
            </a:extLst>
          </p:cNvPr>
          <p:cNvSpPr txBox="1"/>
          <p:nvPr/>
        </p:nvSpPr>
        <p:spPr>
          <a:xfrm>
            <a:off x="291894" y="4272671"/>
            <a:ext cx="137855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等线"/>
              </a:rPr>
              <a:t>0. Setup</a:t>
            </a:r>
            <a:endParaRPr lang="en-US" sz="2400" b="1" i="0" u="none" strike="noStrike" kern="1200" cap="none" spc="0" baseline="0">
              <a:solidFill>
                <a:srgbClr val="061F3F"/>
              </a:solidFill>
              <a:uFillTx/>
              <a:latin typeface="Aptos"/>
              <a:ea typeface="等线" pitchFamily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B1C4F2-F8C6-F9F9-62ED-C5A242416FF4}"/>
              </a:ext>
            </a:extLst>
          </p:cNvPr>
          <p:cNvSpPr txBox="1"/>
          <p:nvPr/>
        </p:nvSpPr>
        <p:spPr>
          <a:xfrm>
            <a:off x="1657706" y="3132560"/>
            <a:ext cx="121650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等线"/>
              </a:rPr>
              <a:t>1. Meta</a:t>
            </a:r>
          </a:p>
        </p:txBody>
      </p:sp>
      <p:sp>
        <p:nvSpPr>
          <p:cNvPr id="8" name="文本框 10">
            <a:extLst>
              <a:ext uri="{FF2B5EF4-FFF2-40B4-BE49-F238E27FC236}">
                <a16:creationId xmlns:a16="http://schemas.microsoft.com/office/drawing/2014/main" id="{090342ED-63C6-3E41-07EC-8A11EE673DC7}"/>
              </a:ext>
            </a:extLst>
          </p:cNvPr>
          <p:cNvSpPr txBox="1"/>
          <p:nvPr/>
        </p:nvSpPr>
        <p:spPr>
          <a:xfrm>
            <a:off x="4458778" y="3132560"/>
            <a:ext cx="1424854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等线"/>
              </a:rPr>
              <a:t>3. Label</a:t>
            </a:r>
          </a:p>
        </p:txBody>
      </p:sp>
      <p:sp>
        <p:nvSpPr>
          <p:cNvPr id="9" name="文本框 11">
            <a:extLst>
              <a:ext uri="{FF2B5EF4-FFF2-40B4-BE49-F238E27FC236}">
                <a16:creationId xmlns:a16="http://schemas.microsoft.com/office/drawing/2014/main" id="{8F683D0A-4311-68BF-F628-DEC5974E8337}"/>
              </a:ext>
            </a:extLst>
          </p:cNvPr>
          <p:cNvSpPr txBox="1"/>
          <p:nvPr/>
        </p:nvSpPr>
        <p:spPr>
          <a:xfrm>
            <a:off x="5731998" y="4272671"/>
            <a:ext cx="1945715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等线"/>
              </a:rPr>
              <a:t>4. Segment</a:t>
            </a:r>
          </a:p>
        </p:txBody>
      </p:sp>
      <p:sp>
        <p:nvSpPr>
          <p:cNvPr id="10" name="文本框 8">
            <a:extLst>
              <a:ext uri="{FF2B5EF4-FFF2-40B4-BE49-F238E27FC236}">
                <a16:creationId xmlns:a16="http://schemas.microsoft.com/office/drawing/2014/main" id="{0381162A-C155-CFA0-0FC7-2EC4E260A5C2}"/>
              </a:ext>
            </a:extLst>
          </p:cNvPr>
          <p:cNvSpPr txBox="1"/>
          <p:nvPr/>
        </p:nvSpPr>
        <p:spPr>
          <a:xfrm>
            <a:off x="2965646" y="4272671"/>
            <a:ext cx="1395913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等线"/>
              </a:rPr>
              <a:t>2. Clean</a:t>
            </a:r>
          </a:p>
        </p:txBody>
      </p:sp>
      <p:sp>
        <p:nvSpPr>
          <p:cNvPr id="11" name="文本框 19">
            <a:extLst>
              <a:ext uri="{FF2B5EF4-FFF2-40B4-BE49-F238E27FC236}">
                <a16:creationId xmlns:a16="http://schemas.microsoft.com/office/drawing/2014/main" id="{E53B12D6-2168-22F3-E050-34DE7B58B226}"/>
              </a:ext>
            </a:extLst>
          </p:cNvPr>
          <p:cNvSpPr txBox="1"/>
          <p:nvPr/>
        </p:nvSpPr>
        <p:spPr>
          <a:xfrm>
            <a:off x="6953125" y="3132560"/>
            <a:ext cx="173158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5. Feature</a:t>
            </a:r>
          </a:p>
        </p:txBody>
      </p:sp>
      <p:sp>
        <p:nvSpPr>
          <p:cNvPr id="12" name="文本框 21">
            <a:extLst>
              <a:ext uri="{FF2B5EF4-FFF2-40B4-BE49-F238E27FC236}">
                <a16:creationId xmlns:a16="http://schemas.microsoft.com/office/drawing/2014/main" id="{31276BED-E919-2452-AC4E-524559E39ADF}"/>
              </a:ext>
            </a:extLst>
          </p:cNvPr>
          <p:cNvSpPr txBox="1"/>
          <p:nvPr/>
        </p:nvSpPr>
        <p:spPr>
          <a:xfrm>
            <a:off x="327538" y="4871804"/>
            <a:ext cx="1182831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Pull raw data</a:t>
            </a:r>
          </a:p>
        </p:txBody>
      </p:sp>
      <p:sp>
        <p:nvSpPr>
          <p:cNvPr id="13" name="文本框 23">
            <a:extLst>
              <a:ext uri="{FF2B5EF4-FFF2-40B4-BE49-F238E27FC236}">
                <a16:creationId xmlns:a16="http://schemas.microsoft.com/office/drawing/2014/main" id="{D1AAFC25-7B42-3959-10A2-2FD51E7FA75C}"/>
              </a:ext>
            </a:extLst>
          </p:cNvPr>
          <p:cNvSpPr txBox="1"/>
          <p:nvPr/>
        </p:nvSpPr>
        <p:spPr>
          <a:xfrm>
            <a:off x="1339513" y="2215874"/>
            <a:ext cx="1894673" cy="10156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Scan audio and create initial metadata</a:t>
            </a:r>
          </a:p>
        </p:txBody>
      </p:sp>
      <p:sp>
        <p:nvSpPr>
          <p:cNvPr id="14" name="文本框 24">
            <a:extLst>
              <a:ext uri="{FF2B5EF4-FFF2-40B4-BE49-F238E27FC236}">
                <a16:creationId xmlns:a16="http://schemas.microsoft.com/office/drawing/2014/main" id="{882E26DA-68ED-8AA4-0C34-FA42E2F5B24E}"/>
              </a:ext>
            </a:extLst>
          </p:cNvPr>
          <p:cNvSpPr txBox="1"/>
          <p:nvPr/>
        </p:nvSpPr>
        <p:spPr>
          <a:xfrm>
            <a:off x="2679886" y="4720416"/>
            <a:ext cx="1960976" cy="10156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High-pass filter, resample, RMS normalization</a:t>
            </a:r>
          </a:p>
        </p:txBody>
      </p:sp>
      <p:sp>
        <p:nvSpPr>
          <p:cNvPr id="15" name="文本框 25">
            <a:extLst>
              <a:ext uri="{FF2B5EF4-FFF2-40B4-BE49-F238E27FC236}">
                <a16:creationId xmlns:a16="http://schemas.microsoft.com/office/drawing/2014/main" id="{17121AFD-C779-B15E-8239-3BD75546F660}"/>
              </a:ext>
            </a:extLst>
          </p:cNvPr>
          <p:cNvSpPr txBox="1"/>
          <p:nvPr/>
        </p:nvSpPr>
        <p:spPr>
          <a:xfrm>
            <a:off x="4223449" y="2215417"/>
            <a:ext cx="1900461" cy="10156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Apply custom class map and risk weights</a:t>
            </a:r>
            <a:endParaRPr lang="zh-CN" sz="20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</p:txBody>
      </p:sp>
      <p:sp>
        <p:nvSpPr>
          <p:cNvPr id="16" name="文本框 26">
            <a:extLst>
              <a:ext uri="{FF2B5EF4-FFF2-40B4-BE49-F238E27FC236}">
                <a16:creationId xmlns:a16="http://schemas.microsoft.com/office/drawing/2014/main" id="{73692BF4-9AB6-E2AD-31D2-384A432E9D7C}"/>
              </a:ext>
            </a:extLst>
          </p:cNvPr>
          <p:cNvSpPr txBox="1"/>
          <p:nvPr/>
        </p:nvSpPr>
        <p:spPr>
          <a:xfrm>
            <a:off x="5606158" y="4732906"/>
            <a:ext cx="2218197" cy="10156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Slide-window segmentation and label propagation</a:t>
            </a:r>
          </a:p>
        </p:txBody>
      </p:sp>
      <p:sp>
        <p:nvSpPr>
          <p:cNvPr id="17" name="文本框 21">
            <a:extLst>
              <a:ext uri="{FF2B5EF4-FFF2-40B4-BE49-F238E27FC236}">
                <a16:creationId xmlns:a16="http://schemas.microsoft.com/office/drawing/2014/main" id="{CEC04535-C31A-A3BB-E61F-15BCBAAB30CE}"/>
              </a:ext>
            </a:extLst>
          </p:cNvPr>
          <p:cNvSpPr txBox="1"/>
          <p:nvPr/>
        </p:nvSpPr>
        <p:spPr>
          <a:xfrm>
            <a:off x="6629893" y="2217246"/>
            <a:ext cx="2382039" cy="10156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Extract 2D log-Mel and 1D aggregated features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396FE8BB-250B-BAEC-F2C7-CFD0352464C3}"/>
              </a:ext>
            </a:extLst>
          </p:cNvPr>
          <p:cNvSpPr/>
          <p:nvPr/>
        </p:nvSpPr>
        <p:spPr>
          <a:xfrm>
            <a:off x="-4074913" y="1093896"/>
            <a:ext cx="3952201" cy="4373712"/>
          </a:xfrm>
          <a:prstGeom prst="rect">
            <a:avLst/>
          </a:prstGeom>
          <a:solidFill>
            <a:srgbClr val="15608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This slide summarizes our end-to-end pipeline from raw audio to model-ready features.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We start with setup, where we download information from our datasets into a consistent folder structure. The </a:t>
            </a:r>
            <a:r>
              <a:rPr lang="en-US" sz="1200" b="0" i="1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Meta</a:t>
            </a: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 stage then scans all audio files and builds a master CSV with file paths, original labels, and a split hint based on the original recording or fold. That’s important later to avoid data leakage between train and test.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In the </a:t>
            </a:r>
            <a:r>
              <a:rPr lang="en-US" sz="1200" b="0" i="1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Clean</a:t>
            </a: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 stage, every clip goes through a 4</a:t>
            </a:r>
            <a:r>
              <a:rPr lang="en-US" sz="1200" b="0" i="0" u="none" strike="noStrike" kern="1200" cap="none" spc="0" baseline="30000">
                <a:solidFill>
                  <a:srgbClr val="FFFFFF"/>
                </a:solidFill>
                <a:uFillTx/>
                <a:latin typeface="Aptos"/>
              </a:rPr>
              <a:t>th</a:t>
            </a: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 order butterworth high-pass filter, is resampled to 16 kHz mono, and RMS-normalized so loudness is comparable. We also compute a clipping ratio as a basic quality check.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Next, </a:t>
            </a:r>
            <a:r>
              <a:rPr lang="en-US" sz="1200" b="0" i="1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Label</a:t>
            </a: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 merges in our custom class map, assigning each clip a target class plus </a:t>
            </a:r>
            <a:r>
              <a: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is_hazard</a:t>
            </a: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 and </a:t>
            </a:r>
            <a:r>
              <a: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risk_weight</a:t>
            </a: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. </a:t>
            </a:r>
            <a:r>
              <a:rPr lang="en-US" sz="1200" b="0" i="1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Segment</a:t>
            </a: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 then chops each processed file into overlapping 1-second slices with 50% overlap and carries the label to each slice.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Finally, </a:t>
            </a:r>
            <a:r>
              <a:rPr lang="en-US" sz="1200" b="0" i="1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Feature</a:t>
            </a: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 computes two representations: a log-Mel spectrogram and a 1D aggregated vector. All of this is indexed in CSVs so training and visualization are fully reproducible.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2C81-559B-B5EC-C745-6E537E525A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 b="1"/>
              <a:t>Processed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66286-064B-5BC7-AA6A-0CF5D6A3E33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380798"/>
            <a:ext cx="3943350" cy="4131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lvl="0" indent="0" algn="ctr">
              <a:buNone/>
            </a:pPr>
            <a:r>
              <a:rPr lang="en-US"/>
              <a:t>Log-Mel Spectrogram</a:t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8246AB2F-CFFB-6BE0-5F9B-F667848CD67F}"/>
              </a:ext>
            </a:extLst>
          </p:cNvPr>
          <p:cNvCxnSpPr/>
          <p:nvPr/>
        </p:nvCxnSpPr>
        <p:spPr>
          <a:xfrm>
            <a:off x="457200" y="1365436"/>
            <a:ext cx="8229600" cy="0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5" name="Straight Connector 7">
            <a:extLst>
              <a:ext uri="{FF2B5EF4-FFF2-40B4-BE49-F238E27FC236}">
                <a16:creationId xmlns:a16="http://schemas.microsoft.com/office/drawing/2014/main" id="{661FCB96-D02C-78B0-309C-B0D4F3824398}"/>
              </a:ext>
            </a:extLst>
          </p:cNvPr>
          <p:cNvCxnSpPr/>
          <p:nvPr/>
        </p:nvCxnSpPr>
        <p:spPr>
          <a:xfrm>
            <a:off x="457200" y="1797070"/>
            <a:ext cx="3943350" cy="0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</p:spPr>
      </p:cxnSp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80541287-A08A-DECA-E828-3FA7A126F6D8}"/>
              </a:ext>
            </a:extLst>
          </p:cNvPr>
          <p:cNvCxnSpPr/>
          <p:nvPr/>
        </p:nvCxnSpPr>
        <p:spPr>
          <a:xfrm>
            <a:off x="4745736" y="1797070"/>
            <a:ext cx="3941064" cy="0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</p:spPr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4A3780-05C6-F486-6BF1-37E8CBEA5BAD}"/>
              </a:ext>
            </a:extLst>
          </p:cNvPr>
          <p:cNvSpPr txBox="1"/>
          <p:nvPr/>
        </p:nvSpPr>
        <p:spPr>
          <a:xfrm>
            <a:off x="4743450" y="1380798"/>
            <a:ext cx="3943350" cy="41318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Mean Mel Profiles </a:t>
            </a:r>
          </a:p>
        </p:txBody>
      </p:sp>
      <p:pic>
        <p:nvPicPr>
          <p:cNvPr id="8" name="Picture 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B56F3FB7-2D0C-DBAC-4BD3-AF027307F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87539"/>
            <a:ext cx="3937296" cy="191753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0C3B0D-D5B0-612D-15E1-DC0C59315DA2}"/>
              </a:ext>
            </a:extLst>
          </p:cNvPr>
          <p:cNvSpPr txBox="1"/>
          <p:nvPr/>
        </p:nvSpPr>
        <p:spPr>
          <a:xfrm>
            <a:off x="392972" y="3869740"/>
            <a:ext cx="4068915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828282"/>
                </a:solidFill>
                <a:uFillTx/>
                <a:latin typeface="Aptos"/>
              </a:rPr>
              <a:t>Figure[4].  Log Mel Spectrogram slices highlighting frequencies for 3 example audios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6CB7B0E-217A-73EC-0355-3BFAF831A8FC}"/>
              </a:ext>
            </a:extLst>
          </p:cNvPr>
          <p:cNvSpPr txBox="1"/>
          <p:nvPr/>
        </p:nvSpPr>
        <p:spPr>
          <a:xfrm>
            <a:off x="4718697" y="3950939"/>
            <a:ext cx="4069080" cy="2385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0" i="0" u="none" strike="noStrike" kern="1200" cap="none" spc="0" baseline="0">
                <a:solidFill>
                  <a:srgbClr val="828282"/>
                </a:solidFill>
                <a:uFillTx/>
                <a:latin typeface="Aptos"/>
              </a:rPr>
              <a:t>Figure[5].  </a:t>
            </a:r>
            <a:r>
              <a:rPr lang="en-US" sz="950" b="0" i="0" u="none" strike="noStrike" kern="1200" cap="none" spc="0" baseline="0">
                <a:solidFill>
                  <a:srgbClr val="828282"/>
                </a:solidFill>
                <a:uFillTx/>
                <a:latin typeface="Aptos"/>
                <a:ea typeface="Aptos"/>
                <a:cs typeface="Aptos"/>
              </a:rPr>
              <a:t>Mel profiles with variability showing spectral patterns across sound classes</a:t>
            </a:r>
            <a:endParaRPr lang="en-US" sz="950" b="0" i="0" u="none" strike="noStrike" kern="1200" cap="none" spc="0" baseline="0">
              <a:solidFill>
                <a:srgbClr val="828282"/>
              </a:solidFill>
              <a:uFillTx/>
              <a:latin typeface="Aptos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6F0F2D3-E4A1-57F6-3DEC-E3740AE0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82"/>
          <a:stretch>
            <a:fillRect/>
          </a:stretch>
        </p:blipFill>
        <p:spPr>
          <a:xfrm>
            <a:off x="4743450" y="1913903"/>
            <a:ext cx="4018312" cy="210719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45A358A-E1F7-464C-595C-2A567734B5B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F49FD8E9-FBAC-9D41-99DC-C23C2237B10D}" type="slidenum">
              <a:t>5</a:t>
            </a:fld>
            <a:endParaRPr lang="en-US"/>
          </a:p>
        </p:txBody>
      </p:sp>
      <p:sp>
        <p:nvSpPr>
          <p:cNvPr id="13" name="文本框 6">
            <a:extLst>
              <a:ext uri="{FF2B5EF4-FFF2-40B4-BE49-F238E27FC236}">
                <a16:creationId xmlns:a16="http://schemas.microsoft.com/office/drawing/2014/main" id="{5524D12A-9673-3741-051E-4582C96D8A16}"/>
              </a:ext>
            </a:extLst>
          </p:cNvPr>
          <p:cNvSpPr txBox="1"/>
          <p:nvPr/>
        </p:nvSpPr>
        <p:spPr>
          <a:xfrm>
            <a:off x="164290" y="4271583"/>
            <a:ext cx="4327910" cy="18620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CN" sz="1400" b="1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Car horn:</a:t>
            </a:r>
            <a:r>
              <a:rPr lang="zh-CN" sz="1400" b="0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 </a:t>
            </a:r>
            <a:r>
              <a:rPr lang="zh-CN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short, mid-high band burst → bright stripe(s)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5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Aptos"/>
              <a:cs typeface="Aptos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CN" sz="1400" b="1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Engine:</a:t>
            </a:r>
            <a:r>
              <a:rPr lang="zh-CN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 steady low bands + harmonics → horizontal ridges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Aptos"/>
              <a:cs typeface="Aptos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5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Aptos"/>
              <a:cs typeface="Aptos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CN" sz="1400" b="1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Construction:</a:t>
            </a:r>
            <a:r>
              <a:rPr lang="zh-CN" sz="1400" b="0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 </a:t>
            </a:r>
            <a:r>
              <a:rPr lang="zh-CN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broadband, noisy, intermittent → speckled texture</a:t>
            </a:r>
            <a:endParaRPr lang="zh-CN" sz="14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5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Aptos"/>
              <a:cs typeface="Aptos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C7D05F1F-CBB2-869F-B62E-3C4205D46746}"/>
              </a:ext>
            </a:extLst>
          </p:cNvPr>
          <p:cNvSpPr txBox="1"/>
          <p:nvPr/>
        </p:nvSpPr>
        <p:spPr>
          <a:xfrm>
            <a:off x="4514209" y="4280964"/>
            <a:ext cx="4325112" cy="190821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CN" sz="1400" b="1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Per class:</a:t>
            </a:r>
            <a:r>
              <a:rPr lang="zh-CN" sz="1400" b="0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 </a:t>
            </a:r>
            <a:r>
              <a:rPr lang="zh-CN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average of up to </a:t>
            </a:r>
            <a:r>
              <a:rPr lang="zh-CN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n=300</a:t>
            </a:r>
            <a:r>
              <a:rPr lang="zh-CN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 slices; </a:t>
            </a:r>
            <a:br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</a:br>
            <a:r>
              <a:rPr lang="zh-CN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shade = </a:t>
            </a:r>
            <a:r>
              <a:rPr lang="zh-CN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±1 SD</a:t>
            </a:r>
            <a:endParaRPr lang="zh-CN" sz="14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500" b="1" i="0" u="none" strike="noStrike" kern="1200" cap="none" spc="0" baseline="0">
              <a:solidFill>
                <a:srgbClr val="000000"/>
              </a:solidFill>
              <a:uFillTx/>
              <a:latin typeface="Aptos"/>
              <a:ea typeface="Aptos"/>
              <a:cs typeface="Aptos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CN" sz="1400" b="1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Engine</a:t>
            </a:r>
            <a:r>
              <a:rPr lang="zh-CN" sz="1400" b="0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 </a:t>
            </a:r>
            <a:r>
              <a:rPr lang="zh-CN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highest below ~500 Hz; fast decay at high bands</a:t>
            </a:r>
            <a:endParaRPr lang="zh-CN" sz="14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  <a:cs typeface="Aptos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zh-CN" sz="5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CN" sz="1400" b="1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Siren</a:t>
            </a:r>
            <a:r>
              <a:rPr lang="zh-CN" sz="1400" b="0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 </a:t>
            </a:r>
            <a:r>
              <a:rPr lang="zh-CN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stronger in mid–high bands (slow decay)</a:t>
            </a:r>
            <a:endParaRPr lang="zh-CN" sz="14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  <a:cs typeface="Aptos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zh-CN" sz="5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CN" sz="1400" b="1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Construction</a:t>
            </a:r>
            <a:r>
              <a:rPr lang="zh-CN" sz="1400" b="0" i="0" u="none" strike="noStrike" kern="1200" cap="none" spc="0" baseline="0">
                <a:solidFill>
                  <a:srgbClr val="061F3F"/>
                </a:solidFill>
                <a:uFillTx/>
                <a:latin typeface="Aptos"/>
                <a:ea typeface="Aptos"/>
                <a:cs typeface="Aptos"/>
              </a:rPr>
              <a:t> </a:t>
            </a:r>
            <a:r>
              <a:rPr lang="zh-CN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flatter/broader energy than others</a:t>
            </a:r>
            <a:endParaRPr lang="zh-CN" sz="14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  <a:cs typeface="Aptos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zh-CN" sz="5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7B6F0B-4AE1-A8CD-0F5C-E7BCE272BC50}"/>
              </a:ext>
            </a:extLst>
          </p:cNvPr>
          <p:cNvSpPr/>
          <p:nvPr/>
        </p:nvSpPr>
        <p:spPr>
          <a:xfrm>
            <a:off x="591817" y="5968645"/>
            <a:ext cx="3668060" cy="570265"/>
          </a:xfrm>
          <a:prstGeom prst="rect">
            <a:avLst/>
          </a:prstGeom>
          <a:noFill/>
          <a:ln w="19046" cap="flat">
            <a:solidFill>
              <a:srgbClr val="061F3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1" i="0" u="none" strike="noStrike" kern="1200" cap="none" spc="0" baseline="0">
              <a:solidFill>
                <a:srgbClr val="000000"/>
              </a:solidFill>
              <a:uFillTx/>
              <a:latin typeface="Aptos"/>
              <a:ea typeface="Aptos"/>
              <a:cs typeface="Apto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Takeaway:</a:t>
            </a:r>
            <a:r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 classes show </a:t>
            </a: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distinct time–frequency patterns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EB0517D1-1C09-5112-5407-11A662E425B2}"/>
              </a:ext>
            </a:extLst>
          </p:cNvPr>
          <p:cNvSpPr/>
          <p:nvPr/>
        </p:nvSpPr>
        <p:spPr>
          <a:xfrm>
            <a:off x="4881094" y="5968645"/>
            <a:ext cx="3668060" cy="570265"/>
          </a:xfrm>
          <a:prstGeom prst="rect">
            <a:avLst/>
          </a:prstGeom>
          <a:noFill/>
          <a:ln w="19046" cap="flat">
            <a:solidFill>
              <a:srgbClr val="061F3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1" i="0" u="none" strike="noStrike" kern="1200" cap="none" spc="0" baseline="0">
              <a:solidFill>
                <a:srgbClr val="000000"/>
              </a:solidFill>
              <a:uFillTx/>
              <a:latin typeface="Aptos"/>
              <a:ea typeface="Aptos"/>
              <a:cs typeface="Apto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Takeaway:</a:t>
            </a:r>
            <a:r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 curves separate by band, confirmed Mel features are discriminatory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74E2106-EA74-C633-5C0D-D5C6C9D9EBD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306253" y="4801112"/>
            <a:ext cx="4651324" cy="243384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lvl="0" indent="0" algn="ctr">
              <a:buNone/>
            </a:pPr>
            <a:r>
              <a:rPr lang="en-US" sz="2400"/>
              <a:t>Hazardous events require extremely low False Positive Rates (FPR). Standard classification accuracy is not sufficient.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5BD0A96-13C3-5A80-F3D5-78DF42BDDAF6}"/>
              </a:ext>
            </a:extLst>
          </p:cNvPr>
          <p:cNvSpPr txBox="1"/>
          <p:nvPr/>
        </p:nvSpPr>
        <p:spPr>
          <a:xfrm>
            <a:off x="628650" y="377400"/>
            <a:ext cx="78867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Challenges</a:t>
            </a:r>
          </a:p>
        </p:txBody>
      </p: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31C73A28-6EDD-2D27-6D41-FE053C90778F}"/>
              </a:ext>
            </a:extLst>
          </p:cNvPr>
          <p:cNvCxnSpPr/>
          <p:nvPr/>
        </p:nvCxnSpPr>
        <p:spPr>
          <a:xfrm>
            <a:off x="457200" y="1365436"/>
            <a:ext cx="8229600" cy="0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</p:spPr>
      </p:cxn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306E5E89-9A05-D818-A89B-80BF7277F2F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8CA2DF64-7692-7F47-B5DE-B83417FC5BDE}" type="slidenum">
              <a:t>6</a:t>
            </a:fld>
            <a:endParaRPr lang="en-US"/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9339487E-72B5-089D-63B4-979CCBE2E734}"/>
              </a:ext>
            </a:extLst>
          </p:cNvPr>
          <p:cNvSpPr txBox="1"/>
          <p:nvPr/>
        </p:nvSpPr>
        <p:spPr>
          <a:xfrm>
            <a:off x="329613" y="2185260"/>
            <a:ext cx="4072326" cy="136652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Classes like 'CarHorn' (33K slices) vs. 'Siren' (1.2K slices) require advanced handling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</p:txBody>
      </p:sp>
      <p:sp>
        <p:nvSpPr>
          <p:cNvPr id="7" name="文本框 3">
            <a:extLst>
              <a:ext uri="{FF2B5EF4-FFF2-40B4-BE49-F238E27FC236}">
                <a16:creationId xmlns:a16="http://schemas.microsoft.com/office/drawing/2014/main" id="{AD8C01E0-6B02-EA78-333F-F69B510B8B74}"/>
              </a:ext>
            </a:extLst>
          </p:cNvPr>
          <p:cNvSpPr txBox="1"/>
          <p:nvPr/>
        </p:nvSpPr>
        <p:spPr>
          <a:xfrm>
            <a:off x="4727054" y="2165399"/>
            <a:ext cx="4069080" cy="227286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Ensure test sets are split by the </a:t>
            </a:r>
            <a:r>
              <a:rPr lang="en-US" sz="2400" b="0" i="1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original recording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等线"/>
              </a:rPr>
              <a:t> ID (fold/session) rather than by slice to guarantee model generalization</a:t>
            </a:r>
            <a:endParaRPr lang="zh-CN" sz="24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/>
            </a:endParaRPr>
          </a:p>
          <a:p>
            <a:pPr marL="0" marR="0" lvl="0" indent="0" algn="ctr" defTabSz="4572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61F3F"/>
              </a:solidFill>
              <a:highlight>
                <a:srgbClr val="C0C0C0"/>
              </a:highlight>
              <a:uFillTx/>
              <a:latin typeface="Aptos"/>
              <a:ea typeface="等线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EF729A50-1F76-D867-45A1-EE6E87366E60}"/>
              </a:ext>
            </a:extLst>
          </p:cNvPr>
          <p:cNvSpPr txBox="1"/>
          <p:nvPr/>
        </p:nvSpPr>
        <p:spPr>
          <a:xfrm>
            <a:off x="438793" y="1707980"/>
            <a:ext cx="3864958" cy="461662"/>
          </a:xfrm>
          <a:prstGeom prst="rect">
            <a:avLst/>
          </a:prstGeom>
          <a:solidFill>
            <a:srgbClr val="061F3F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Severe Class Imbalance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3A617-529F-12ED-55EB-E1057D2DBEA4}"/>
              </a:ext>
            </a:extLst>
          </p:cNvPr>
          <p:cNvSpPr txBox="1"/>
          <p:nvPr/>
        </p:nvSpPr>
        <p:spPr>
          <a:xfrm>
            <a:off x="4840056" y="1700555"/>
            <a:ext cx="3864958" cy="461662"/>
          </a:xfrm>
          <a:prstGeom prst="rect">
            <a:avLst/>
          </a:prstGeom>
          <a:solidFill>
            <a:srgbClr val="061F3F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Preventing Data Leakage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B1B673-AE35-CDDF-BBF8-8665E33F222F}"/>
              </a:ext>
            </a:extLst>
          </p:cNvPr>
          <p:cNvSpPr txBox="1"/>
          <p:nvPr/>
        </p:nvSpPr>
        <p:spPr>
          <a:xfrm>
            <a:off x="2745476" y="4343692"/>
            <a:ext cx="3864958" cy="461662"/>
          </a:xfrm>
          <a:prstGeom prst="rect">
            <a:avLst/>
          </a:prstGeom>
          <a:solidFill>
            <a:srgbClr val="061F3F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Reducing False Alarms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29607-1005-2A88-FBCF-B842FB1BA96C}"/>
              </a:ext>
            </a:extLst>
          </p:cNvPr>
          <p:cNvSpPr txBox="1"/>
          <p:nvPr/>
        </p:nvSpPr>
        <p:spPr>
          <a:xfrm>
            <a:off x="628650" y="371264"/>
            <a:ext cx="78867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Future</a:t>
            </a:r>
            <a:r>
              <a:rPr lang="en-US" sz="44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 </a:t>
            </a:r>
            <a:r>
              <a:rPr lang="en-US" sz="4400" b="1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BC8D1-BB17-3A3B-F948-EACDE774B29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67387" y="1798332"/>
            <a:ext cx="4687159" cy="47358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lvl="0" indent="0">
              <a:buNone/>
            </a:pPr>
            <a:r>
              <a:rPr lang="en-US" sz="2000" b="1"/>
              <a:t>Implementation</a:t>
            </a:r>
          </a:p>
          <a:p>
            <a:pPr lvl="0"/>
            <a:r>
              <a:rPr lang="en-US" sz="2000"/>
              <a:t>Improving our classifier to minimize outlying data that decreases reliability for our solution</a:t>
            </a:r>
          </a:p>
          <a:p>
            <a:pPr lvl="0"/>
            <a:r>
              <a:rPr lang="en-US" sz="2000"/>
              <a:t>Include Python script examples on website to showcase methodology</a:t>
            </a:r>
          </a:p>
          <a:p>
            <a:pPr lvl="0"/>
            <a:r>
              <a:rPr lang="en-US" sz="2000"/>
              <a:t>Think of ways to incorporate our solution for real world use</a:t>
            </a:r>
          </a:p>
          <a:p>
            <a:pPr marL="0" lvl="0" indent="0">
              <a:buNone/>
            </a:pPr>
            <a:br>
              <a:rPr lang="en-US" sz="2000"/>
            </a:br>
            <a:r>
              <a:rPr lang="en-US" sz="2000" b="1"/>
              <a:t>Process</a:t>
            </a:r>
          </a:p>
          <a:p>
            <a:pPr lvl="0"/>
            <a:r>
              <a:rPr lang="en-US" sz="2000"/>
              <a:t>Incorporating our findings, data, and methods into each respective tab on the website </a:t>
            </a:r>
          </a:p>
          <a:p>
            <a:pPr lvl="0"/>
            <a:r>
              <a:rPr lang="en-US" sz="2000"/>
              <a:t>Noting any challenges faced throughout the process </a:t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82FE054B-CD92-986B-2D67-939DB7655160}"/>
              </a:ext>
            </a:extLst>
          </p:cNvPr>
          <p:cNvCxnSpPr/>
          <p:nvPr/>
        </p:nvCxnSpPr>
        <p:spPr>
          <a:xfrm>
            <a:off x="457200" y="1365436"/>
            <a:ext cx="8229600" cy="0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</p:spPr>
      </p:cxn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D448C153-7F38-914E-B014-F776624382C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8659E969-6EF9-D846-BE42-2010C306F11B}" type="slidenum">
              <a:t>7</a:t>
            </a:fld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E570D0A-9B69-D107-9F78-DAEBC4A98DD8}"/>
              </a:ext>
            </a:extLst>
          </p:cNvPr>
          <p:cNvSpPr/>
          <p:nvPr/>
        </p:nvSpPr>
        <p:spPr>
          <a:xfrm>
            <a:off x="6955968" y="4615543"/>
            <a:ext cx="293915" cy="816431"/>
          </a:xfrm>
          <a:custGeom>
            <a:avLst>
              <a:gd name="f0" fmla="val 17712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  <a:solidFill>
            <a:srgbClr val="061F3F"/>
          </a:solidFill>
          <a:ln w="19046" cap="flat">
            <a:solidFill>
              <a:srgbClr val="061F3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22519-1210-15AA-D715-0017D208D29C}"/>
              </a:ext>
            </a:extLst>
          </p:cNvPr>
          <p:cNvSpPr txBox="1"/>
          <p:nvPr/>
        </p:nvSpPr>
        <p:spPr>
          <a:xfrm>
            <a:off x="5486400" y="5595259"/>
            <a:ext cx="3200400" cy="646334"/>
          </a:xfrm>
          <a:prstGeom prst="rect">
            <a:avLst/>
          </a:prstGeom>
          <a:solidFill>
            <a:srgbClr val="061F3F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Brainstorm implementation of solution onto a device for use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37007AD-EB98-E238-BF73-B942438F2A54}"/>
              </a:ext>
            </a:extLst>
          </p:cNvPr>
          <p:cNvSpPr txBox="1"/>
          <p:nvPr/>
        </p:nvSpPr>
        <p:spPr>
          <a:xfrm>
            <a:off x="5486400" y="3526968"/>
            <a:ext cx="3200400" cy="923333"/>
          </a:xfrm>
          <a:prstGeom prst="rect">
            <a:avLst/>
          </a:prstGeom>
          <a:solidFill>
            <a:srgbClr val="061F3F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Retrain after improving classifier to showcase our most reliable solution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A9555C9-AE53-1C67-EB2E-A69843090398}"/>
              </a:ext>
            </a:extLst>
          </p:cNvPr>
          <p:cNvSpPr txBox="1"/>
          <p:nvPr/>
        </p:nvSpPr>
        <p:spPr>
          <a:xfrm>
            <a:off x="5486400" y="2013856"/>
            <a:ext cx="3200400" cy="369335"/>
          </a:xfrm>
          <a:prstGeom prst="rect">
            <a:avLst/>
          </a:prstGeom>
          <a:solidFill>
            <a:srgbClr val="061F3F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Improve pipeline and models</a:t>
            </a:r>
          </a:p>
        </p:txBody>
      </p:sp>
      <p:sp>
        <p:nvSpPr>
          <p:cNvPr id="10" name="Arrow: Down 10">
            <a:extLst>
              <a:ext uri="{FF2B5EF4-FFF2-40B4-BE49-F238E27FC236}">
                <a16:creationId xmlns:a16="http://schemas.microsoft.com/office/drawing/2014/main" id="{C21303BB-E8A9-F5A4-643A-D04D047371AF}"/>
              </a:ext>
            </a:extLst>
          </p:cNvPr>
          <p:cNvSpPr/>
          <p:nvPr/>
        </p:nvSpPr>
        <p:spPr>
          <a:xfrm>
            <a:off x="6955968" y="2547253"/>
            <a:ext cx="293915" cy="816431"/>
          </a:xfrm>
          <a:custGeom>
            <a:avLst>
              <a:gd name="f0" fmla="val 17712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  <a:solidFill>
            <a:srgbClr val="061F3F"/>
          </a:solidFill>
          <a:ln w="19046" cap="flat">
            <a:solidFill>
              <a:srgbClr val="061F3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D47FE-C926-B062-1967-E8CB6C2B29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 b="1"/>
              <a:t>External</a:t>
            </a:r>
            <a:r>
              <a:rPr lang="en-US"/>
              <a:t> </a:t>
            </a:r>
            <a:r>
              <a:rPr lang="en-US" b="1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EA2F-8FAB-CA13-A475-04FDD0D6A42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1825627"/>
            <a:ext cx="78867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 sz="1200">
                <a:solidFill>
                  <a:srgbClr val="1B1B1B"/>
                </a:solidFill>
              </a:rPr>
              <a:t>[1] Lin, H. W., Mahboubi, H., &amp; Bhattacharyya, N. (2018). Self-reported Hearing Difficulty and Risk of Accidental Injury in US Adults, 2007 to 2015. </a:t>
            </a:r>
            <a:r>
              <a:rPr lang="en-US" sz="1200" i="1">
                <a:solidFill>
                  <a:srgbClr val="1B1B1B"/>
                </a:solidFill>
              </a:rPr>
              <a:t>JAMA otolaryngology-- head &amp; neck surgery</a:t>
            </a:r>
            <a:r>
              <a:rPr lang="en-US" sz="1200">
                <a:solidFill>
                  <a:srgbClr val="1B1B1B"/>
                </a:solidFill>
              </a:rPr>
              <a:t>, </a:t>
            </a:r>
            <a:r>
              <a:rPr lang="en-US" sz="1200" i="1">
                <a:solidFill>
                  <a:srgbClr val="1B1B1B"/>
                </a:solidFill>
              </a:rPr>
              <a:t>144</a:t>
            </a:r>
            <a:r>
              <a:rPr lang="en-US" sz="1200">
                <a:solidFill>
                  <a:srgbClr val="1B1B1B"/>
                </a:solidFill>
              </a:rPr>
              <a:t>(5), 413–417. </a:t>
            </a:r>
            <a:r>
              <a:rPr lang="en-US" sz="1200">
                <a:solidFill>
                  <a:srgbClr val="1B1B1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https://doi.org/10.1001/jamaoto.2018.0039</a:t>
            </a:r>
            <a:endParaRPr lang="en-US"/>
          </a:p>
          <a:p>
            <a:pPr lvl="0"/>
            <a:r>
              <a:rPr lang="en-US" sz="1200">
                <a:solidFill>
                  <a:srgbClr val="1B1B1B"/>
                </a:solidFill>
              </a:rPr>
              <a:t>[2] U.S. hearing aids market size, share | industry report, 2030. (n.d.). </a:t>
            </a:r>
            <a:r>
              <a:rPr lang="en-US" sz="1200">
                <a:solidFill>
                  <a:srgbClr val="1B1B1B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https://www.grandviewresearch.com/industry-analysis/us-hearing-aids-market-report</a:t>
            </a:r>
            <a:r>
              <a:rPr lang="en-US" sz="1200">
                <a:solidFill>
                  <a:srgbClr val="1B1B1B"/>
                </a:solidFill>
              </a:rPr>
              <a:t> </a:t>
            </a:r>
          </a:p>
          <a:p>
            <a:pPr lvl="0"/>
            <a:endParaRPr lang="en-US" sz="1200">
              <a:solidFill>
                <a:srgbClr val="1B1B1B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F712349-28DE-0FAD-B59C-87F2CF3FB727}"/>
              </a:ext>
            </a:extLst>
          </p:cNvPr>
          <p:cNvCxnSpPr/>
          <p:nvPr/>
        </p:nvCxnSpPr>
        <p:spPr>
          <a:xfrm>
            <a:off x="457200" y="1365436"/>
            <a:ext cx="8229600" cy="0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</a:ln>
        </p:spPr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48A80-ACAE-2202-6B65-188B20ECFB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9B8CDD6B-98E1-8941-9B24-E41E8DD9220D}" type="slidenum"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C6BB-BA07-EACC-463B-523A0A986332}"/>
              </a:ext>
            </a:extLst>
          </p:cNvPr>
          <p:cNvSpPr txBox="1"/>
          <p:nvPr/>
        </p:nvSpPr>
        <p:spPr>
          <a:xfrm>
            <a:off x="3165058" y="2324349"/>
            <a:ext cx="2939942" cy="113819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Thank You!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F658209-5A42-88B5-6906-37374FF46E8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943A9108-4C8C-584B-AC42-01ABE41AE27B}" type="slidenum">
              <a:t>9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7CD454-AA92-AC5D-6232-C30C6F52DA9C}"/>
              </a:ext>
            </a:extLst>
          </p:cNvPr>
          <p:cNvSpPr txBox="1"/>
          <p:nvPr/>
        </p:nvSpPr>
        <p:spPr>
          <a:xfrm>
            <a:off x="1465335" y="3359789"/>
            <a:ext cx="6022439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等线"/>
                <a:cs typeface="Calibri"/>
              </a:rPr>
              <a:t>Group 17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等线"/>
                <a:cs typeface="Aptos"/>
              </a:rPr>
              <a:t>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等线" pitchFamily="2"/>
              <a:cs typeface="Calibri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等线"/>
                <a:cs typeface="Aptos"/>
              </a:rPr>
              <a:t>Dhruv Dighrasker, Ozan Uyulur, Andrew Ye, Ruilin Yu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等线"/>
              <a:cs typeface="Calibr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20015A-6020-158B-4247-4ABC70DA5436}"/>
              </a:ext>
            </a:extLst>
          </p:cNvPr>
          <p:cNvSpPr txBox="1"/>
          <p:nvPr/>
        </p:nvSpPr>
        <p:spPr>
          <a:xfrm>
            <a:off x="1552148" y="4279977"/>
            <a:ext cx="616133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CN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Aptos"/>
                <a:cs typeface="Aptos"/>
              </a:rPr>
              <a:t>https://sites.google.com/umich.edu/eecs351group17/home</a:t>
            </a:r>
            <a:endParaRPr lang="zh-CN" sz="18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等线" pitchFamily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21</TotalTime>
  <Words>1201</Words>
  <Application>Microsoft Macintosh PowerPoint</Application>
  <PresentationFormat>全屏显示(4:3)</PresentationFormat>
  <Paragraphs>154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Aptos Narrow</vt:lpstr>
      <vt:lpstr>Arial</vt:lpstr>
      <vt:lpstr>Calibri</vt:lpstr>
      <vt:lpstr>Wingdings</vt:lpstr>
      <vt:lpstr>Office Theme</vt:lpstr>
      <vt:lpstr>PowerPoint 演示文稿</vt:lpstr>
      <vt:lpstr>Background &amp; Motivation</vt:lpstr>
      <vt:lpstr>Dataset </vt:lpstr>
      <vt:lpstr>Pipeline </vt:lpstr>
      <vt:lpstr>Processed Data</vt:lpstr>
      <vt:lpstr>PowerPoint 演示文稿</vt:lpstr>
      <vt:lpstr>PowerPoint 演示文稿</vt:lpstr>
      <vt:lpstr>External References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Ye, Andrew</dc:creator>
  <cp:lastModifiedBy>DG4533</cp:lastModifiedBy>
  <cp:revision>5</cp:revision>
  <dcterms:created xsi:type="dcterms:W3CDTF">2025-11-30T16:48:30Z</dcterms:created>
  <dcterms:modified xsi:type="dcterms:W3CDTF">2025-12-03T04:30:55Z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0x0101001BA6DFEA8F2C4F4C9FFDFBAB7B414AFF</vt:lpwstr>
  </property>
</Properties>
</file>